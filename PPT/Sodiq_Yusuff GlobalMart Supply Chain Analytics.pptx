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B871A9-AB61-489D-8E3D-DC5724A5DD84}">
          <p14:sldIdLst>
            <p14:sldId id="256"/>
            <p14:sldId id="257"/>
          </p14:sldIdLst>
        </p14:section>
        <p14:section name="Untitled Section" id="{AA0DBE41-F5B1-44C4-B83C-AEE9D199D190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86221-1A9C-404C-94C7-8AD93DF4A70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C2CFB-896F-4F07-8450-F4D5A62BA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9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  <a:p>
            <a:endParaRPr lang="en-US" dirty="0"/>
          </a:p>
          <a:p>
            <a:r>
              <a:rPr lang="en-US" dirty="0"/>
              <a:t>Analyze </a:t>
            </a:r>
            <a:r>
              <a:rPr lang="en-US" dirty="0" err="1"/>
              <a:t>GlobalMart's</a:t>
            </a:r>
            <a:r>
              <a:rPr lang="en-US" dirty="0"/>
              <a:t> sales and supply chain performance to identify operational inefficiencies, improve profitability, optimize inventory, and support data-driven decision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C2CFB-896F-4F07-8450-F4D5A62BA8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4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AFD7-98F1-8B61-C1E2-45CD51D3A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440E9-D259-797A-4CD4-D56F971B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354DC-96EF-FEFA-0671-CE5FD43A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F4779-8C18-215C-1696-59AC5AF9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1B795-B749-8752-2107-D15FEBE1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2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EB91-0E08-B9D0-2A01-E8ABF928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734E9-8659-E24D-1A2C-27848AA9F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5CCBB-3EAB-9FB5-BAF0-33123FD8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DA1F8-BAE8-25E2-7018-52AB4CC6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42E4B-A037-2974-3169-16377DE6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3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7186-0C21-D4FE-2FF5-B2D380E4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FAFF1-81BB-4D95-B335-66A31B82B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8B02C-2070-0A43-56C4-6A91824A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5144A-6398-E68D-56D8-771C4F6EA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BEFBD-FD10-0D8A-2F76-29F6B212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8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3C90-BC76-55A9-8283-4CD016B9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58E-FEFF-F6C4-EA14-4FE3D8D20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6E851-05B0-ABAD-2D52-65B4DE6F6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9E460-CEFE-0154-8A74-15950E3E3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2E54E-6CB2-6083-3995-B3B179C7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FEBB1-B544-7733-AE88-18713259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7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AB2D-F81A-B4A8-633F-9BF322B41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9FE74-58D6-001D-B8E4-61A8100E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5D55C-76BA-B98A-09D0-00D82E643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4618F-2AE9-778D-234A-A729B4208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B569C-9BE5-FB19-A005-DF4E2E2B6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42A58-0B4A-2A7A-9980-EDEEE2F0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794D39-6950-7D01-5AF0-0D75634C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5A67B-2A56-067A-0E20-B30BA977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6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F7EF-A8EC-CF8D-BADF-DCFB8EB0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23C9E-F7F6-5305-E6D7-27D6340D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40DBB-113E-8361-21D5-4713D7A9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09386-0960-2D76-5016-FA6BB0FA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7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603EF-9E38-8EF3-2D27-563D202F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20C14-623A-A54C-689A-28EF70A5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DE58-6621-13D7-6663-69B38A38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2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4D3A-5EB1-595E-F5B3-64477BAB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5F86A-5129-C7B8-4FE2-A8424616A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AFFA5-AFC9-DDC9-DF6F-843F6F99B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B6EDC-B499-CC74-FB07-5A509613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FE67E-1330-02CC-D582-2B969359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34AF1-0CF7-A8DC-FB56-8744087D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4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1804-FE22-298F-F7AA-B2FD84A3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4EF3F-EF9C-35FF-C0B4-66431219C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F6358-4B77-A136-00AA-F0538B0FF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6BF8A-7420-73F3-5CE0-4EF1BA69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1384A-02F0-19EA-7039-5F854673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00702-9620-77BA-85E9-A26B1DD5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4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BBA7-1804-7C21-AB9C-C70DA6F9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32B98-FF5A-644E-81AB-CDB97FB64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22D73-FB92-A653-5786-321249FA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52ED6-0C2C-D201-B118-28356696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D2431-688A-BFFF-D7E1-B689B697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6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794A8-1570-7724-C822-342BBD9B1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9731-4C37-7B8F-108C-1C7069148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243A6-9145-AC9B-90BF-21F9A524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CD752-B061-4E1A-941F-5F132DCE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32CBF-4C4A-14CC-34DF-8ADE1C2A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1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547C5-CED1-44E2-6550-23EAB64B6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B5A5C-FB3E-F03F-F640-5D995C683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2827-E5EA-EB31-D386-C6D4E896D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3B029-FDAA-4124-BF86-A7043416E7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070AC-A88F-54B6-29AE-CC323D939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0A7DD-0810-B938-95C3-4D9E716B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38168-39AB-4F29-9530-58B8581C4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7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9CC3-560F-AE58-54A6-DDD4933DFA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GlobalMart</a:t>
            </a:r>
            <a:r>
              <a:rPr lang="en-US" dirty="0"/>
              <a:t> Supply Chain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107CD-E35A-AE3D-1FC9-3C35B5BF1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 BI Business Intelligence Project</a:t>
            </a:r>
          </a:p>
        </p:txBody>
      </p:sp>
    </p:spTree>
    <p:extLst>
      <p:ext uri="{BB962C8B-B14F-4D97-AF65-F5344CB8AC3E}">
        <p14:creationId xmlns:p14="http://schemas.microsoft.com/office/powerpoint/2010/main" val="72384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464B-37EB-5C5F-0FC4-0AA8225B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44193-8782-8242-7166-8907BA5F8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Challenges</a:t>
            </a:r>
          </a:p>
          <a:p>
            <a:r>
              <a:rPr lang="en-US" dirty="0"/>
              <a:t> Inconsistent delivery performance across suppliers</a:t>
            </a:r>
          </a:p>
          <a:p>
            <a:r>
              <a:rPr lang="en-US" dirty="0"/>
              <a:t>Difficulty identifying the most profitable product categories</a:t>
            </a:r>
          </a:p>
          <a:p>
            <a:r>
              <a:rPr lang="en-US" dirty="0"/>
              <a:t>Inventory imbalance causing overstocking and shortages</a:t>
            </a:r>
          </a:p>
          <a:p>
            <a:r>
              <a:rPr lang="en-US" dirty="0"/>
              <a:t> Lack of </a:t>
            </a:r>
            <a:r>
              <a:rPr lang="en-US" dirty="0" err="1"/>
              <a:t>centralised</a:t>
            </a:r>
            <a:r>
              <a:rPr lang="en-US" dirty="0"/>
              <a:t> reporting for executive decision-making</a:t>
            </a:r>
          </a:p>
          <a:p>
            <a:endParaRPr lang="en-US" dirty="0"/>
          </a:p>
          <a:p>
            <a:r>
              <a:rPr lang="en-US" dirty="0"/>
              <a:t>### Business Goal</a:t>
            </a:r>
          </a:p>
        </p:txBody>
      </p:sp>
    </p:spTree>
    <p:extLst>
      <p:ext uri="{BB962C8B-B14F-4D97-AF65-F5344CB8AC3E}">
        <p14:creationId xmlns:p14="http://schemas.microsoft.com/office/powerpoint/2010/main" val="233194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AD4E-110A-4F4D-F355-E3ADEC0A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(Excel → Power BI → Insights)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FEC42-6B63-992C-3B5B-515B16568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1AF1A-C005-9074-5197-664B4EA6F17E}"/>
              </a:ext>
            </a:extLst>
          </p:cNvPr>
          <p:cNvSpPr/>
          <p:nvPr/>
        </p:nvSpPr>
        <p:spPr>
          <a:xfrm>
            <a:off x="838200" y="1825625"/>
            <a:ext cx="3578352" cy="3084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Business transaction data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Supplier records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Inventory data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Delivery 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6592D7-10EE-A6BA-A853-42D64E48254A}"/>
              </a:ext>
            </a:extLst>
          </p:cNvPr>
          <p:cNvSpPr/>
          <p:nvPr/>
        </p:nvSpPr>
        <p:spPr>
          <a:xfrm>
            <a:off x="4416552" y="1825623"/>
            <a:ext cx="3578352" cy="3084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Preparation (Excel)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Removed duplicates</a:t>
            </a:r>
          </a:p>
          <a:p>
            <a:pPr algn="ctr"/>
            <a:r>
              <a:rPr lang="en-US" dirty="0"/>
              <a:t>Corrected missing values</a:t>
            </a:r>
          </a:p>
          <a:p>
            <a:pPr algn="ctr"/>
            <a:r>
              <a:rPr lang="en-US" dirty="0"/>
              <a:t> Standardized formats</a:t>
            </a:r>
          </a:p>
          <a:p>
            <a:pPr algn="ctr"/>
            <a:r>
              <a:rPr lang="en-US" dirty="0"/>
              <a:t>*Created calculated fields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D3E78F-B79F-B0A2-4F80-2B05558B1BA6}"/>
              </a:ext>
            </a:extLst>
          </p:cNvPr>
          <p:cNvSpPr/>
          <p:nvPr/>
        </p:nvSpPr>
        <p:spPr>
          <a:xfrm>
            <a:off x="7885176" y="1825623"/>
            <a:ext cx="3468624" cy="3084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 BI Development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Data modeling</a:t>
            </a:r>
          </a:p>
          <a:p>
            <a:pPr algn="ctr"/>
            <a:r>
              <a:rPr lang="en-US" dirty="0"/>
              <a:t>DAX calculations</a:t>
            </a:r>
          </a:p>
          <a:p>
            <a:pPr algn="ctr"/>
            <a:r>
              <a:rPr lang="en-US" dirty="0"/>
              <a:t> KPI cards</a:t>
            </a:r>
          </a:p>
          <a:p>
            <a:pPr algn="ctr"/>
            <a:r>
              <a:rPr lang="en-US" dirty="0"/>
              <a:t>Interactive slicers</a:t>
            </a:r>
          </a:p>
          <a:p>
            <a:pPr algn="ctr"/>
            <a:r>
              <a:rPr lang="en-US"/>
              <a:t>Executive </a:t>
            </a:r>
            <a:r>
              <a:rPr lang="en-US" dirty="0"/>
              <a:t>dashboards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092835-7B54-0A04-A836-D41EBED0251E}"/>
              </a:ext>
            </a:extLst>
          </p:cNvPr>
          <p:cNvSpPr/>
          <p:nvPr/>
        </p:nvSpPr>
        <p:spPr>
          <a:xfrm>
            <a:off x="838200" y="4910327"/>
            <a:ext cx="10515600" cy="1266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Outcome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Business insights supporting strategic supply chain decisions.</a:t>
            </a:r>
          </a:p>
        </p:txBody>
      </p:sp>
    </p:spTree>
    <p:extLst>
      <p:ext uri="{BB962C8B-B14F-4D97-AF65-F5344CB8AC3E}">
        <p14:creationId xmlns:p14="http://schemas.microsoft.com/office/powerpoint/2010/main" val="363131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B0E5-9F88-2DFC-FE6B-29CF990B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 &amp;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04540-313E-4E9D-71E2-56276418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15D26-854C-166D-9C11-DB33EEE9B684}"/>
              </a:ext>
            </a:extLst>
          </p:cNvPr>
          <p:cNvSpPr/>
          <p:nvPr/>
        </p:nvSpPr>
        <p:spPr>
          <a:xfrm>
            <a:off x="838200" y="1811718"/>
            <a:ext cx="5257800" cy="4351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Includes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Orders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Products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Suppliers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Regions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Shipping Mode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Revenue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Profit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Inventory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Delivery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2DB4-C7B4-7C8E-9727-FCB8FB2002B9}"/>
              </a:ext>
            </a:extLst>
          </p:cNvPr>
          <p:cNvSpPr/>
          <p:nvPr/>
        </p:nvSpPr>
        <p:spPr>
          <a:xfrm>
            <a:off x="6096000" y="1818672"/>
            <a:ext cx="5257800" cy="4351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 KPIs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Total Revenue: $687.79M</a:t>
            </a:r>
          </a:p>
          <a:p>
            <a:pPr algn="ctr"/>
            <a:r>
              <a:rPr lang="en-US" dirty="0"/>
              <a:t>Total Profit: $191.09M</a:t>
            </a:r>
          </a:p>
          <a:p>
            <a:pPr algn="ctr"/>
            <a:r>
              <a:rPr lang="en-US" dirty="0"/>
              <a:t>Profit Margin: 27.78%</a:t>
            </a:r>
          </a:p>
          <a:p>
            <a:pPr algn="ctr"/>
            <a:r>
              <a:rPr lang="en-US" dirty="0"/>
              <a:t>Total Orders: 1.90K</a:t>
            </a:r>
          </a:p>
          <a:p>
            <a:pPr algn="ctr"/>
            <a:r>
              <a:rPr lang="en-US" dirty="0"/>
              <a:t>Average Order Value: $362.57K </a:t>
            </a:r>
          </a:p>
        </p:txBody>
      </p:sp>
    </p:spTree>
    <p:extLst>
      <p:ext uri="{BB962C8B-B14F-4D97-AF65-F5344CB8AC3E}">
        <p14:creationId xmlns:p14="http://schemas.microsoft.com/office/powerpoint/2010/main" val="984471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FADA-6839-04D5-E92C-DCD3AC82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C703-05D1-511C-6D59-7E2DFEFB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Delivery Performance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11DA3-1378-4EF9-B9F6-811E4CDE2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084445-64CA-DB3F-2380-A0BB2E410DCB}"/>
              </a:ext>
            </a:extLst>
          </p:cNvPr>
          <p:cNvSpPr/>
          <p:nvPr/>
        </p:nvSpPr>
        <p:spPr>
          <a:xfrm>
            <a:off x="838200" y="1825624"/>
            <a:ext cx="3578352" cy="435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Metrics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On-Time Delivery Rate: 35.64%</a:t>
            </a:r>
          </a:p>
          <a:p>
            <a:pPr algn="ctr"/>
            <a:r>
              <a:rPr lang="en-US" dirty="0"/>
              <a:t>Late Delivery Rate: 64.36%</a:t>
            </a:r>
          </a:p>
          <a:p>
            <a:pPr algn="ctr"/>
            <a:r>
              <a:rPr lang="en-US" dirty="0"/>
              <a:t>Damaged Goods Rate: 2.60%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D75352-7724-457B-70E5-346E581CB03A}"/>
              </a:ext>
            </a:extLst>
          </p:cNvPr>
          <p:cNvSpPr/>
          <p:nvPr/>
        </p:nvSpPr>
        <p:spPr>
          <a:xfrm>
            <a:off x="4416552" y="1825623"/>
            <a:ext cx="3578352" cy="4351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Findings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Late deliveries significantly exceed on-time deliveries.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Delivery performance varies among suppliers.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Shipping efficiency should be improved through supplier evaluation and logistics optimization.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8E6210-4D7C-5130-7094-D3805594BD3F}"/>
              </a:ext>
            </a:extLst>
          </p:cNvPr>
          <p:cNvSpPr/>
          <p:nvPr/>
        </p:nvSpPr>
        <p:spPr>
          <a:xfrm>
            <a:off x="7940040" y="1825622"/>
            <a:ext cx="3413760" cy="4351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Impact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Poor delivery performance may reduce customer satisfaction and increase operational costs. </a:t>
            </a:r>
          </a:p>
        </p:txBody>
      </p:sp>
    </p:spTree>
    <p:extLst>
      <p:ext uri="{BB962C8B-B14F-4D97-AF65-F5344CB8AC3E}">
        <p14:creationId xmlns:p14="http://schemas.microsoft.com/office/powerpoint/2010/main" val="398957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F6F9-76D0-210B-EBC1-9B3AD79B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E00B-CE7A-1E7A-FA08-9BDF4583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Profitability Analysis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263B-000B-F520-74BD-951EF559F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29C4A-AF9F-36E2-6C3A-DA0313B5BCD3}"/>
              </a:ext>
            </a:extLst>
          </p:cNvPr>
          <p:cNvSpPr/>
          <p:nvPr/>
        </p:nvSpPr>
        <p:spPr>
          <a:xfrm>
            <a:off x="838200" y="1825620"/>
            <a:ext cx="3578352" cy="435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Summary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Total Profit: $191.09M</a:t>
            </a:r>
          </a:p>
          <a:p>
            <a:pPr algn="ctr"/>
            <a:r>
              <a:rPr lang="en-US" dirty="0"/>
              <a:t>Overall Profit Margin: 27.78%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0AE6E-FF35-E752-002C-1D63224A9207}"/>
              </a:ext>
            </a:extLst>
          </p:cNvPr>
          <p:cNvSpPr/>
          <p:nvPr/>
        </p:nvSpPr>
        <p:spPr>
          <a:xfrm>
            <a:off x="4416552" y="1825623"/>
            <a:ext cx="3578352" cy="4351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Findings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Electronics generated the highest revenue.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Health &amp; Beauty recorded the highest profit margin (28.96%).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Home Appliances had the lowest profit margin (26.88%).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AF9E8-EE92-FA77-2994-11F1816E6B75}"/>
              </a:ext>
            </a:extLst>
          </p:cNvPr>
          <p:cNvSpPr/>
          <p:nvPr/>
        </p:nvSpPr>
        <p:spPr>
          <a:xfrm>
            <a:off x="7940040" y="1825622"/>
            <a:ext cx="3413760" cy="4351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Performance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Highest revenue generated from: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East Africa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Central Africa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West Africa </a:t>
            </a:r>
          </a:p>
        </p:txBody>
      </p:sp>
    </p:spTree>
    <p:extLst>
      <p:ext uri="{BB962C8B-B14F-4D97-AF65-F5344CB8AC3E}">
        <p14:creationId xmlns:p14="http://schemas.microsoft.com/office/powerpoint/2010/main" val="2999833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33AA-A2F7-0221-8E1B-D5F4C284C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B7BB-8B16-32BF-8766-13CE5A68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Inventory </a:t>
            </a:r>
            <a:r>
              <a:rPr lang="en-US" dirty="0" err="1"/>
              <a:t>Optimisation</a:t>
            </a:r>
            <a:r>
              <a:rPr lang="en-US" dirty="0"/>
              <a:t>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E1D33-BB2D-5258-B725-594E04627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18ED90-9555-66C0-0896-4AA34645E7F7}"/>
              </a:ext>
            </a:extLst>
          </p:cNvPr>
          <p:cNvSpPr/>
          <p:nvPr/>
        </p:nvSpPr>
        <p:spPr>
          <a:xfrm>
            <a:off x="838200" y="1825620"/>
            <a:ext cx="3578352" cy="435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Inventory Analysis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Dashboard compares: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Stock Levels</a:t>
            </a:r>
          </a:p>
          <a:p>
            <a:pPr algn="ctr"/>
            <a:r>
              <a:rPr lang="en-US" dirty="0"/>
              <a:t> Quantity Ordered</a:t>
            </a:r>
          </a:p>
          <a:p>
            <a:pPr algn="ctr"/>
            <a:r>
              <a:rPr lang="en-US" dirty="0"/>
              <a:t> Damaged Goods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4D9CD-2625-8796-AC76-0032DD27256D}"/>
              </a:ext>
            </a:extLst>
          </p:cNvPr>
          <p:cNvSpPr/>
          <p:nvPr/>
        </p:nvSpPr>
        <p:spPr>
          <a:xfrm>
            <a:off x="4416552" y="1825623"/>
            <a:ext cx="3578352" cy="4351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Observations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Home Appliances maintain the largest inventory.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Clothing has the lowest stock level.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Health &amp; Beauty records the highest damaged goods rate.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Inventory distribution varies considerably across categories.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C432D-5119-FE86-8498-36D2C4E9232D}"/>
              </a:ext>
            </a:extLst>
          </p:cNvPr>
          <p:cNvSpPr/>
          <p:nvPr/>
        </p:nvSpPr>
        <p:spPr>
          <a:xfrm>
            <a:off x="7940040" y="1825622"/>
            <a:ext cx="3413760" cy="4351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Implement demand forecasting and automated stock replenishment. </a:t>
            </a:r>
          </a:p>
        </p:txBody>
      </p:sp>
    </p:spTree>
    <p:extLst>
      <p:ext uri="{BB962C8B-B14F-4D97-AF65-F5344CB8AC3E}">
        <p14:creationId xmlns:p14="http://schemas.microsoft.com/office/powerpoint/2010/main" val="204539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36A16-20F8-927F-07D4-4F757F92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815E-9818-37DA-72B2-3C26027F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Business Trends &amp;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4581-2E6C-174E-F8EB-4F0011238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886AC-E4FF-4582-0C14-3FBB06F21AED}"/>
              </a:ext>
            </a:extLst>
          </p:cNvPr>
          <p:cNvSpPr/>
          <p:nvPr/>
        </p:nvSpPr>
        <p:spPr>
          <a:xfrm>
            <a:off x="838200" y="1825620"/>
            <a:ext cx="3578352" cy="435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Revenue Trends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Monthly revenue fluctuates between approximately $35M and $53M, indicating seasonal demand patterns.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BBEC3-6153-29B8-2EA3-9F9E2E73C49C}"/>
              </a:ext>
            </a:extLst>
          </p:cNvPr>
          <p:cNvSpPr/>
          <p:nvPr/>
        </p:nvSpPr>
        <p:spPr>
          <a:xfrm>
            <a:off x="4416552" y="1825623"/>
            <a:ext cx="3578352" cy="4351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Supplier Performance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Top contributors include: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GlobalTrade</a:t>
            </a:r>
            <a:r>
              <a:rPr lang="en-US" dirty="0"/>
              <a:t> 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QuickShip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AfroParts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NileSupply</a:t>
            </a:r>
            <a:r>
              <a:rPr lang="en-US" dirty="0"/>
              <a:t> Egypt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Fast Track Logistics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02B28-53EF-0E71-17F0-7E5FDF0D73E4}"/>
              </a:ext>
            </a:extLst>
          </p:cNvPr>
          <p:cNvSpPr/>
          <p:nvPr/>
        </p:nvSpPr>
        <p:spPr>
          <a:xfrm>
            <a:off x="7940040" y="1825622"/>
            <a:ext cx="3413760" cy="4351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Regional Trend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East Africa contributes the highest revenue among all regions.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45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E10C-8F48-BDD5-421C-CD35273D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DEB0-2AB6-AF93-25E7-1F3F5D88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4E365-BF39-91D6-FE18-B0106BAF9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89602A-888D-8939-87E8-397603A7C5C0}"/>
              </a:ext>
            </a:extLst>
          </p:cNvPr>
          <p:cNvSpPr/>
          <p:nvPr/>
        </p:nvSpPr>
        <p:spPr>
          <a:xfrm>
            <a:off x="838200" y="1825620"/>
            <a:ext cx="2657856" cy="435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Supply Chain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Improve supplier performance monitoring.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Negotiate service-level agreements with underperforming suppliers.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44A084-9CF5-6E6E-3476-4C260CF3BF35}"/>
              </a:ext>
            </a:extLst>
          </p:cNvPr>
          <p:cNvSpPr/>
          <p:nvPr/>
        </p:nvSpPr>
        <p:spPr>
          <a:xfrm>
            <a:off x="6096000" y="1825621"/>
            <a:ext cx="2599944" cy="4351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Inventory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Introduce inventory forecasting.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Reduce excess stock while preventing shortages.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BDDCE5-231C-143B-3E60-044458C3F334}"/>
              </a:ext>
            </a:extLst>
          </p:cNvPr>
          <p:cNvSpPr/>
          <p:nvPr/>
        </p:nvSpPr>
        <p:spPr>
          <a:xfrm>
            <a:off x="8695944" y="1825622"/>
            <a:ext cx="2657856" cy="4351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Profitability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Focus investment on high-margin product categories.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Expand successful regional markets.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062AE-C943-9D3B-FF6C-10B1BDC3B3B6}"/>
              </a:ext>
            </a:extLst>
          </p:cNvPr>
          <p:cNvSpPr/>
          <p:nvPr/>
        </p:nvSpPr>
        <p:spPr>
          <a:xfrm>
            <a:off x="3496056" y="1825621"/>
            <a:ext cx="2599944" cy="4351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Logistics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Reduce late deliveries through route optimization.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Improve shipping mode selection.</a:t>
            </a:r>
          </a:p>
        </p:txBody>
      </p:sp>
    </p:spTree>
    <p:extLst>
      <p:ext uri="{BB962C8B-B14F-4D97-AF65-F5344CB8AC3E}">
        <p14:creationId xmlns:p14="http://schemas.microsoft.com/office/powerpoint/2010/main" val="268446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E29FA-4070-91E3-CB0C-C536906F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0442-42B0-5DE1-39D1-3B77D1B18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B791B-ED41-864D-AEEE-A6D58A2D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A9E0ED-F402-CDFE-5B38-155ECCF39BEB}"/>
              </a:ext>
            </a:extLst>
          </p:cNvPr>
          <p:cNvSpPr/>
          <p:nvPr/>
        </p:nvSpPr>
        <p:spPr>
          <a:xfrm>
            <a:off x="838200" y="1811718"/>
            <a:ext cx="5257800" cy="4351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Conclusion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Power BI dashboard successfully transforms operational data into actionable business insights by integrating sales, inventory, supplier, and logistics performance into a single executive reporting platform.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175ED-3CAA-5B4C-8AF2-A2272D7E77C8}"/>
              </a:ext>
            </a:extLst>
          </p:cNvPr>
          <p:cNvSpPr/>
          <p:nvPr/>
        </p:nvSpPr>
        <p:spPr>
          <a:xfrm>
            <a:off x="6096000" y="1818672"/>
            <a:ext cx="5257800" cy="4351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 Steps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Implement predictive analytics.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Build demand forecasting models.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Monitor supplier KPIs continuously.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Enhance real-time operational reporting.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Integrate the dashboard with ERP systems for automated reporting.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53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544</Words>
  <Application>Microsoft Office PowerPoint</Application>
  <PresentationFormat>Widescreen</PresentationFormat>
  <Paragraphs>163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GlobalMart Supply Chain Analytics</vt:lpstr>
      <vt:lpstr>Business Problem Overview</vt:lpstr>
      <vt:lpstr>Methodology (Excel → Power BI → Insights)</vt:lpstr>
      <vt:lpstr>Data Overview &amp; Structure</vt:lpstr>
      <vt:lpstr>Delivery Performance Insights</vt:lpstr>
      <vt:lpstr>Profitability Analysis Insights</vt:lpstr>
      <vt:lpstr> Inventory Optimisation Insights</vt:lpstr>
      <vt:lpstr> Business Trends &amp; Patterns</vt:lpstr>
      <vt:lpstr> Strategic Recommendations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Sodiq Yusuff</dc:creator>
  <cp:lastModifiedBy>Sodiq Yusuff</cp:lastModifiedBy>
  <cp:revision>1</cp:revision>
  <dcterms:created xsi:type="dcterms:W3CDTF">2026-07-21T21:51:44Z</dcterms:created>
  <dcterms:modified xsi:type="dcterms:W3CDTF">2026-07-21T22:45:50Z</dcterms:modified>
</cp:coreProperties>
</file>